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layfair Display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Average"/>
      <p:regular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.fntdata"/><Relationship Id="rId22" Type="http://schemas.openxmlformats.org/officeDocument/2006/relationships/font" Target="fonts/PlayfairDisplay-boldItalic.fntdata"/><Relationship Id="rId21" Type="http://schemas.openxmlformats.org/officeDocument/2006/relationships/font" Target="fonts/PlayfairDisplay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Oswald-regular.fntdata"/><Relationship Id="rId27" Type="http://schemas.openxmlformats.org/officeDocument/2006/relationships/font" Target="fonts/Averag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ayfairDispl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28107619a010cd5b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h28107619a010cd5b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28107619a010cd5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28107619a010cd5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28107619a010cd5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28107619a010cd5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28107619a010cd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h28107619a010cd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28107619a010cd5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28107619a010cd5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28107619a010cd5b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28107619a010cd5b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28107619a010cd5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28107619a010cd5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28107619a010cd5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h28107619a010cd5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28107619a010cd5b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h28107619a010cd5b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28107619a010cd5b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h28107619a010cd5b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28107619a010cd5b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h28107619a010cd5b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28107619a010cd5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28107619a010cd5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0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24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24.png"/><Relationship Id="rId7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Relationship Id="rId5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Sistema de Cadastro de Amigos da Gabi</a:t>
            </a:r>
            <a:endParaRPr sz="3500"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Uma análise passo a passo do projeto e suas funcionalidades em PHP e MySQLI.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Estrutura e Conceitos Base do Sistema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Definição do </a:t>
            </a:r>
            <a:br>
              <a:rPr lang="en"/>
            </a:br>
            <a:r>
              <a:rPr lang="en"/>
              <a:t>Banco de Dados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Antes de mais nada, criamos o Banco de Dados "pwii", onde as credenciais de login e os registros dos amigos da Gabi serão guardados.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Para manipular e exibir os dados dos amigos (e dar função aos botões da nossa "interface"), estabelecemos uma conexão com o BD "pwii" utilizando a ferramenta MySQLI, o que nos permite gerar comandos SQL dentro do código PHP.</a:t>
            </a:r>
            <a:endParaRPr/>
          </a:p>
        </p:txBody>
      </p:sp>
      <p:pic>
        <p:nvPicPr>
          <p:cNvPr id="71" name="Google Shape;71;p15" title="Screenshot_20260928_125210.png"/>
          <p:cNvPicPr preferRelativeResize="0"/>
          <p:nvPr/>
        </p:nvPicPr>
        <p:blipFill rotWithShape="1">
          <a:blip r:embed="rId3">
            <a:alphaModFix/>
          </a:blip>
          <a:srcRect b="0" l="825" r="19066" t="0"/>
          <a:stretch/>
        </p:blipFill>
        <p:spPr>
          <a:xfrm>
            <a:off x="3366325" y="1504144"/>
            <a:ext cx="5524272" cy="894031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2" name="Google Shape;72;p15" title="Screenshot_20260928_125234.png"/>
          <p:cNvPicPr preferRelativeResize="0"/>
          <p:nvPr/>
        </p:nvPicPr>
        <p:blipFill rotWithShape="1">
          <a:blip r:embed="rId4">
            <a:alphaModFix/>
          </a:blip>
          <a:srcRect b="0" l="0" r="19891" t="0"/>
          <a:stretch/>
        </p:blipFill>
        <p:spPr>
          <a:xfrm>
            <a:off x="3366325" y="317275"/>
            <a:ext cx="5524274" cy="1035565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3" name="Google Shape;73;p15" title="Screenshot_20260928_125644.png"/>
          <p:cNvPicPr preferRelativeResize="0"/>
          <p:nvPr/>
        </p:nvPicPr>
        <p:blipFill rotWithShape="1">
          <a:blip r:embed="rId5">
            <a:alphaModFix/>
          </a:blip>
          <a:srcRect b="0" l="7394" r="4157" t="14259"/>
          <a:stretch/>
        </p:blipFill>
        <p:spPr>
          <a:xfrm>
            <a:off x="3599025" y="2658975"/>
            <a:ext cx="5058874" cy="1571525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 blue and orange mysql logo with a dolphin on it (Provided by Tenor)" id="74" name="Google Shape;7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69550" y="3659250"/>
            <a:ext cx="1736413" cy="10355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/>
          <p:nvPr/>
        </p:nvSpPr>
        <p:spPr>
          <a:xfrm>
            <a:off x="408675" y="3929600"/>
            <a:ext cx="2520000" cy="30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  Importação de Arquivos (require)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389600"/>
            <a:ext cx="3065100" cy="34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Sistema de Cadastro de Amigos é dividido em vários arquivos PHP, que representam funções ou páginas diferentes. É preciso estabelecer a conexão com o BD em diversos destes, sempre com as mesmas informações do servidor local.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Para facilitar a repetição de trechos de código, usamos as funções require e include. Nesse projeto, temos arquivos separados para a conexão MySQLI, o cabeçalho e o rodapé HTML, e utilizamos o require_once para chama-los um por vez quando necessário.</a:t>
            </a:r>
            <a:endParaRPr/>
          </a:p>
        </p:txBody>
      </p:sp>
      <p:pic>
        <p:nvPicPr>
          <p:cNvPr id="82" name="Google Shape;82;p16" title="Screenshot_20260928_125622.png"/>
          <p:cNvPicPr preferRelativeResize="0"/>
          <p:nvPr/>
        </p:nvPicPr>
        <p:blipFill rotWithShape="1">
          <a:blip r:embed="rId3">
            <a:alphaModFix/>
          </a:blip>
          <a:srcRect b="0" l="856" r="34280" t="0"/>
          <a:stretch/>
        </p:blipFill>
        <p:spPr>
          <a:xfrm>
            <a:off x="3658052" y="2757495"/>
            <a:ext cx="4856371" cy="1701903"/>
          </a:xfrm>
          <a:prstGeom prst="rect">
            <a:avLst/>
          </a:prstGeom>
          <a:noFill/>
          <a:ln cap="flat" cmpd="sng" w="7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3" name="Google Shape;83;p16" title="Screenshot_20260928_125644.png"/>
          <p:cNvPicPr preferRelativeResize="0"/>
          <p:nvPr/>
        </p:nvPicPr>
        <p:blipFill rotWithShape="1">
          <a:blip r:embed="rId4">
            <a:alphaModFix/>
          </a:blip>
          <a:srcRect b="0" l="8077" r="6365" t="14141"/>
          <a:stretch/>
        </p:blipFill>
        <p:spPr>
          <a:xfrm>
            <a:off x="4284487" y="928950"/>
            <a:ext cx="2954650" cy="95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 title="Screenshot_20260928_12570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6008" y="2658574"/>
            <a:ext cx="1193263" cy="584933"/>
          </a:xfrm>
          <a:prstGeom prst="rect">
            <a:avLst/>
          </a:prstGeom>
          <a:noFill/>
          <a:ln cap="flat" cmpd="sng" w="156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5" name="Google Shape;85;p16" title="Screenshot_20260928_130414.png"/>
          <p:cNvPicPr preferRelativeResize="0"/>
          <p:nvPr/>
        </p:nvPicPr>
        <p:blipFill rotWithShape="1">
          <a:blip r:embed="rId6">
            <a:alphaModFix/>
          </a:blip>
          <a:srcRect b="71933" l="18620" r="46373" t="23866"/>
          <a:stretch/>
        </p:blipFill>
        <p:spPr>
          <a:xfrm>
            <a:off x="3376800" y="555596"/>
            <a:ext cx="2954676" cy="26285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/>
          <p:nvPr/>
        </p:nvSpPr>
        <p:spPr>
          <a:xfrm rot="5400000">
            <a:off x="3677400" y="909600"/>
            <a:ext cx="544500" cy="5832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  Sistema de Login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389600"/>
            <a:ext cx="41505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página index.php apresenta um formulário de login, e o loginAction.php executa as ações que validam os dados inseridos. Para autorizar a entrada, uma condição 'if' verifica se essas informações são equivalentes ao nome e senha registrados na tabela "usuario", e exibe um botão com uma mensagem e destino diferentes de acordo com o resultado.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Para que essa validação ocorra no restante das páginas (a fim de impedir que o login seja "burlado"), precisamos iniciar uma </a:t>
            </a:r>
            <a:r>
              <a:rPr lang="en" u="sng"/>
              <a:t>sessão</a:t>
            </a:r>
            <a:r>
              <a:rPr lang="en"/>
              <a:t>.</a:t>
            </a:r>
            <a:endParaRPr/>
          </a:p>
        </p:txBody>
      </p:sp>
      <p:pic>
        <p:nvPicPr>
          <p:cNvPr id="93" name="Google Shape;93;p17" title="Screenshot_20260928_1257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2550" y="180725"/>
            <a:ext cx="2927324" cy="2770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 title="Screenshot_20260928_125834.png"/>
          <p:cNvPicPr preferRelativeResize="0"/>
          <p:nvPr/>
        </p:nvPicPr>
        <p:blipFill rotWithShape="1">
          <a:blip r:embed="rId4">
            <a:alphaModFix/>
          </a:blip>
          <a:srcRect b="22761" l="6987" r="6538" t="19948"/>
          <a:stretch/>
        </p:blipFill>
        <p:spPr>
          <a:xfrm>
            <a:off x="383275" y="3083286"/>
            <a:ext cx="2310246" cy="40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 title="Screenshot_20260928_130414.png"/>
          <p:cNvPicPr preferRelativeResize="0"/>
          <p:nvPr/>
        </p:nvPicPr>
        <p:blipFill rotWithShape="1">
          <a:blip r:embed="rId5">
            <a:alphaModFix/>
          </a:blip>
          <a:srcRect b="36676" l="5096" r="0" t="13412"/>
          <a:stretch/>
        </p:blipFill>
        <p:spPr>
          <a:xfrm>
            <a:off x="4678850" y="3083275"/>
            <a:ext cx="4150575" cy="182905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6" name="Google Shape;96;p17" title="Screenshot_20260928_125932.png"/>
          <p:cNvPicPr preferRelativeResize="0"/>
          <p:nvPr/>
        </p:nvPicPr>
        <p:blipFill rotWithShape="1">
          <a:blip r:embed="rId6">
            <a:alphaModFix/>
          </a:blip>
          <a:srcRect b="2810" l="47101" r="2957" t="82422"/>
          <a:stretch/>
        </p:blipFill>
        <p:spPr>
          <a:xfrm>
            <a:off x="2815551" y="3083275"/>
            <a:ext cx="1559199" cy="4081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/>
          <p:nvPr/>
        </p:nvSpPr>
        <p:spPr>
          <a:xfrm flipH="1" rot="10800000">
            <a:off x="4462200" y="2128950"/>
            <a:ext cx="778200" cy="7782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109275" y="25900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/>
              <a:t>Uma sessão guarda e disponibiliza dados em um arquivo de texto temporário por sua duração, e pode</a:t>
            </a:r>
            <a:r>
              <a:rPr lang="en" sz="1300"/>
              <a:t> ser configurada para acabar após um determinado período de tempo ou ao ser encerrada manualmente (logout). </a:t>
            </a:r>
            <a:br>
              <a:rPr lang="en" sz="1300"/>
            </a:br>
            <a:r>
              <a:rPr lang="en" sz="1300"/>
              <a:t>	Atribuímos o nome do usuário a variável "logado" ao obter sucesso no login.</a:t>
            </a:r>
            <a:endParaRPr sz="1300"/>
          </a:p>
        </p:txBody>
      </p:sp>
      <p:pic>
        <p:nvPicPr>
          <p:cNvPr id="103" name="Google Shape;103;p18" title="Screenshot_20260928_1311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1125" y="116125"/>
            <a:ext cx="2794275" cy="1653875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4" name="Google Shape;104;p18" title="Screenshot_20260928_1259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8400" y="3980138"/>
            <a:ext cx="3717800" cy="99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 title="Screenshot_20260928_13125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49750" y="955575"/>
            <a:ext cx="2134550" cy="814425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6" name="Google Shape;106;p18"/>
          <p:cNvSpPr txBox="1"/>
          <p:nvPr>
            <p:ph idx="2" type="body"/>
          </p:nvPr>
        </p:nvSpPr>
        <p:spPr>
          <a:xfrm>
            <a:off x="4508400" y="1888688"/>
            <a:ext cx="3999900" cy="21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45720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300"/>
              <a:t>O arquivo verificarAcesso.php é requerido no início de todos os arquivos restritos por login. Ele se certifica se há uma sessão aberta e se a variável $_SESSION['logado'] foi preenchida antes de todo o código da página. </a:t>
            </a:r>
            <a:endParaRPr sz="1300"/>
          </a:p>
          <a:p>
            <a:pPr indent="45720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300"/>
              <a:t>Se não for detectado um valor em 'logado', indicando um login incorreto, o usuário é redirecionado a uma mensagem de acesso negado e retornado ao formulário inicial.</a:t>
            </a:r>
            <a:endParaRPr sz="1200"/>
          </a:p>
        </p:txBody>
      </p:sp>
      <p:pic>
        <p:nvPicPr>
          <p:cNvPr id="107" name="Google Shape;107;p18" title="Screenshot_20260928_130414.png"/>
          <p:cNvPicPr preferRelativeResize="0"/>
          <p:nvPr/>
        </p:nvPicPr>
        <p:blipFill rotWithShape="1">
          <a:blip r:embed="rId6">
            <a:alphaModFix/>
          </a:blip>
          <a:srcRect b="25971" l="19210" r="14639" t="10029"/>
          <a:stretch/>
        </p:blipFill>
        <p:spPr>
          <a:xfrm>
            <a:off x="311700" y="2227375"/>
            <a:ext cx="3359249" cy="2409294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8" name="Google Shape;108;p18"/>
          <p:cNvSpPr/>
          <p:nvPr/>
        </p:nvSpPr>
        <p:spPr>
          <a:xfrm>
            <a:off x="266975" y="2164725"/>
            <a:ext cx="1021200" cy="2325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760350" y="4436825"/>
            <a:ext cx="1708500" cy="1611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10" name="Google Shape;110;p18" title="Screenshot_20260928_130055.png"/>
          <p:cNvPicPr preferRelativeResize="0"/>
          <p:nvPr/>
        </p:nvPicPr>
        <p:blipFill rotWithShape="1">
          <a:blip r:embed="rId7">
            <a:alphaModFix/>
          </a:blip>
          <a:srcRect b="10660" l="6527" r="6796" t="13092"/>
          <a:stretch/>
        </p:blipFill>
        <p:spPr>
          <a:xfrm>
            <a:off x="3721200" y="857600"/>
            <a:ext cx="787200" cy="32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Funções do Sistema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principal.php</a:t>
            </a:r>
            <a:endParaRPr/>
          </a:p>
        </p:txBody>
      </p:sp>
      <p:pic>
        <p:nvPicPr>
          <p:cNvPr id="121" name="Google Shape;121;p20" title="Screenshot_20260928_1301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650" y="1449400"/>
            <a:ext cx="4287074" cy="214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Possui um m</a:t>
            </a:r>
            <a:r>
              <a:rPr lang="en"/>
              <a:t>enu de navegação para o formulário de cadastro (Adicionar), a lista de amigos existentes (Listar) e o botão de Logout. Ao concluir suas operações, essas páginas retornam aqui.</a:t>
            </a:r>
            <a:endParaRPr/>
          </a:p>
        </p:txBody>
      </p:sp>
      <p:pic>
        <p:nvPicPr>
          <p:cNvPr id="123" name="Google Shape;123;p20" title="Screenshot_20260928_1300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8650" y="3666825"/>
            <a:ext cx="1285875" cy="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265500" y="143450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cadastro.php</a:t>
            </a:r>
            <a:endParaRPr/>
          </a:p>
        </p:txBody>
      </p:sp>
      <p:sp>
        <p:nvSpPr>
          <p:cNvPr id="129" name="Google Shape;129;p21"/>
          <p:cNvSpPr txBox="1"/>
          <p:nvPr>
            <p:ph idx="1" type="subTitle"/>
          </p:nvPr>
        </p:nvSpPr>
        <p:spPr>
          <a:xfrm>
            <a:off x="265500" y="1983176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Apresenta o formulário por onde cadastramos os amigos da Gabi. O comando SQL é processado pelo cadastroAction.php, que também exibe uma mensagem de sucesso. </a:t>
            </a:r>
            <a:endParaRPr/>
          </a:p>
        </p:txBody>
      </p:sp>
      <p:pic>
        <p:nvPicPr>
          <p:cNvPr id="130" name="Google Shape;130;p21" title="Screenshot_20260928_1314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1825" y="143446"/>
            <a:ext cx="3095300" cy="316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 title="Screenshot_20260928_13145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7248" y="2984150"/>
            <a:ext cx="2835751" cy="5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1" title="Screenshot_20260928_15353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5500" y="3718425"/>
            <a:ext cx="5706599" cy="124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listar.php</a:t>
            </a:r>
            <a:endParaRPr/>
          </a:p>
        </p:txBody>
      </p:sp>
      <p:sp>
        <p:nvSpPr>
          <p:cNvPr id="138" name="Google Shape;138;p22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Lê os registros em "amigos" com SELECT e gera uma linha na tabela, e apresenta botões para alterar e excluir cada um.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Após executar suas funções, as páginas excluir.php e atualizar.php retornam aqui.</a:t>
            </a:r>
            <a:endParaRPr/>
          </a:p>
        </p:txBody>
      </p:sp>
      <p:pic>
        <p:nvPicPr>
          <p:cNvPr id="139" name="Google Shape;139;p22" title="Screenshot_20260928_1320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0507" y="1899000"/>
            <a:ext cx="4348262" cy="134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excluir.php</a:t>
            </a:r>
            <a:endParaRPr/>
          </a:p>
        </p:txBody>
      </p:sp>
      <p:sp>
        <p:nvSpPr>
          <p:cNvPr id="145" name="Google Shape;145;p23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Detecta as informações do amigo a ser </a:t>
            </a:r>
            <a:r>
              <a:rPr lang="en"/>
              <a:t>excluído</a:t>
            </a:r>
            <a:r>
              <a:rPr lang="en"/>
              <a:t> pelo número de ID, e remove o registro do banco de dados pelo excluirAction.php com o comando DELETE.</a:t>
            </a:r>
            <a:endParaRPr/>
          </a:p>
        </p:txBody>
      </p:sp>
      <p:pic>
        <p:nvPicPr>
          <p:cNvPr id="146" name="Google Shape;146;p23" title="Screenshot_20260928_1320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5323" y="147200"/>
            <a:ext cx="2542375" cy="3496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3" title="Screenshot_20260928_13211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6750" y="3854950"/>
            <a:ext cx="4291450" cy="111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 title="Screenshot_20260928_13210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2675" y="3224551"/>
            <a:ext cx="2542375" cy="469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atualizar.php</a:t>
            </a:r>
            <a:endParaRPr/>
          </a:p>
        </p:txBody>
      </p:sp>
      <p:sp>
        <p:nvSpPr>
          <p:cNvPr id="154" name="Google Shape;154;p24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Permite alterar as informações do amigo selecionado, e processa o query SQL em atualizarAction.php com o comando UPDATE.</a:t>
            </a:r>
            <a:endParaRPr/>
          </a:p>
        </p:txBody>
      </p:sp>
      <p:pic>
        <p:nvPicPr>
          <p:cNvPr id="155" name="Google Shape;155;p24" title="Screenshot_20260928_1321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7438" y="383575"/>
            <a:ext cx="3600750" cy="31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 title="Screenshot_20260928_1322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9900" y="3785225"/>
            <a:ext cx="4275826" cy="112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 title="Screenshot_20260928_13220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5175" y="3305875"/>
            <a:ext cx="2513625" cy="39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160000" y="163075"/>
            <a:ext cx="8228100" cy="19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Resumo</a:t>
            </a:r>
            <a:endParaRPr sz="4400"/>
          </a:p>
        </p:txBody>
      </p:sp>
      <p:sp>
        <p:nvSpPr>
          <p:cNvPr id="163" name="Google Shape;163;p25"/>
          <p:cNvSpPr/>
          <p:nvPr/>
        </p:nvSpPr>
        <p:spPr>
          <a:xfrm>
            <a:off x="0" y="1750275"/>
            <a:ext cx="9144000" cy="339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160000" y="2088825"/>
            <a:ext cx="8051700" cy="27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</a:pP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Através do MySQLI, obtemos ferramentas de manipulação de Banco de Dados dentro do código PHP;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</a:pP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Utilizamos a importação de arquivos para tornar o sistema eficiente e possibilitar a validação do login;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</a:pP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verificação de login baseada em sessões </a:t>
            </a: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providência</a:t>
            </a: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maior segurança e controle do sistema;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</a:pP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Criamos funcionalidade para o sistema através dos comandos SQL, mantendo boas práticas para preservar a integridade do banco de dados criado no início.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